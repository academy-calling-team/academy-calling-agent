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71" r:id="rId10"/>
    <p:sldId id="27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4" r:id="rId19"/>
    <p:sldId id="270" r:id="rId20"/>
  </p:sldIdLst>
  <p:sldSz cx="18288000" cy="10287000"/>
  <p:notesSz cx="6858000" cy="9144000"/>
  <p:embeddedFontLst>
    <p:embeddedFont>
      <p:font typeface="HY헤드라인M" panose="02030600000101010101" pitchFamily="18" charset="-127"/>
      <p:regular r:id="rId22"/>
    </p:embeddedFont>
    <p:embeddedFont>
      <p:font typeface="맑은 고딕" panose="020B0503020000020004" pitchFamily="34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napToObjects="1">
      <p:cViewPr varScale="1">
        <p:scale>
          <a:sx n="56" d="100"/>
          <a:sy n="56" d="100"/>
        </p:scale>
        <p:origin x="378" y="48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D5463-DCD4-4CAD-BEB6-FFCA9A388CF5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2442F-EC23-46B2-B734-821F9F0B88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9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번호는 이 발표 자료 기준. [1] Bohus·Rudnicky 2009(RavenClaw), [2] Skantze 2021(턴 전환 리뷰), [3] Ekstedt·Skantze 2020(TurnGPT), [4] Walker 외 1997(PARADISE), [5] RFC 3551, [6] Ramjee 외 1994. 학회 논문은 TurnGPT·PARADISE를 빼서 참고문헌 번호가 다름.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부재중 300초 뒤 재발신, 결과 대기 600초는 일반 문의 기준(개발 단계 값). 실통화 시험 모드에서는 지정 계정·허용 번호 1개로 문의당 1회만 발신하고 자동 재발신을 끔. 그래서 14쪽 캡처에는 '미응답 시 자동 재발신 없음'이 보임.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화면은 목업 결과(가상 시험 학원)로 화면 구성 예시. 실제 ClawOps 통화 결과 화면은 14쪽 시연(10/19 21:26 문의)에서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굵은 검정 = 우위. 통화 단위 중앙값 차이 95% 구간 −0.01~0.35초로 0을 포함해 차이는 확정 불가(Mann-Whitney p=0.038, 통화 7통씩). 정확도는 생성형 AI 예비 확인으로 평가에서 제외. 완전 무음은 끊김으로 의심되는 흔적이며 청취 확인은 하지 않음. 엔진별 7통 서버 녹음 직접 측정.</a:t>
            </a:r>
          </a:p>
          <a:p>
            <a:r>
              <a:t>예상 질문(ClawOps 1.57초가 목표 1.5초 초과): 완전 무음 0번, 월 비용 약 4분의 1, 버퍼 설정 조정 여지가 있어 SIP 갱신 전까지 비교 후 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SIP 서버까지 TCP 연결 시간 Vapi 132ms, ClawOps 42ms는 음성 경로 왕복이 아님. 입력 묶음 평균은 계산값. Vapi 출력 버퍼는 공개값이 없어 버퍼 차이로 설명되는 몫은 확인하지 못함(10/14 ClawOps 답변 기반).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3060700"/>
            <a:ext cx="9906000" cy="2006600"/>
          </a:xfrm>
          <a:prstGeom prst="rect">
            <a:avLst/>
          </a:prstGeom>
        </p:spPr>
        <p:txBody>
          <a:bodyPr lIns="0" tIns="176313" rIns="0" bIns="0" rtlCol="0" anchor="t"/>
          <a:lstStyle/>
          <a:p>
            <a:pPr lvl="0" algn="l">
              <a:lnSpc>
                <a:spcPct val="120000"/>
              </a:lnSpc>
            </a:pPr>
            <a:r>
              <a:rPr lang="ko-KR" sz="6170" b="1" i="0" u="none" strike="noStrike" spc="-200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학원 문의 대행</a:t>
            </a:r>
          </a:p>
          <a:p>
            <a:pPr lvl="0" algn="l">
              <a:lnSpc>
                <a:spcPct val="120000"/>
              </a:lnSpc>
            </a:pPr>
            <a:r>
              <a:rPr lang="ko-KR" sz="6170" b="1" i="0" u="none" strike="noStrike" spc="-200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보이스 에이전트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4800" y="5715000"/>
            <a:ext cx="11696700" cy="533400"/>
          </a:xfrm>
          <a:prstGeom prst="rect">
            <a:avLst/>
          </a:prstGeom>
        </p:spPr>
        <p:txBody>
          <a:bodyPr lIns="0" tIns="1651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2859" b="0" i="0" u="none" strike="noStrike" spc="-10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맞벌이 학부모 대신 AI가 학원 문의 통화·결과 저장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2514600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16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2026-2 종합설계프로젝트1 · 중간발표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6949440"/>
            <a:ext cx="12801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4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산학협력 8조 · ㈜팔랑크스시스템즈</a:t>
            </a:r>
          </a:p>
          <a:p>
            <a:pPr algn="l">
              <a:spcAft>
                <a:spcPts val="4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박찬원(팀장) · 유종민 · 강유준 · 김규림 · 딩옌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097280"/>
            <a:ext cx="5943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54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5943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배경 → 목표 → 수행 → 향후 → 기대효과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188720"/>
            <a:ext cx="12801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40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188720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이론적 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75920" y="1188720"/>
            <a:ext cx="4297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과업 대화 구조·턴 전환·음성 전송 연구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212848"/>
            <a:ext cx="950976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0" y="2487168"/>
            <a:ext cx="12801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40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487168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최종 목표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75920" y="2487168"/>
            <a:ext cx="4297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학부모 대신 AI 문의 · 전체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511296"/>
            <a:ext cx="950976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3785615"/>
            <a:ext cx="12801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40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785615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수행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075920" y="3785615"/>
            <a:ext cx="4297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백엔드·프론트·음성·실통화 시연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809744"/>
            <a:ext cx="950976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5084064"/>
            <a:ext cx="12801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40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5084064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향후 추진 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075920" y="5084064"/>
            <a:ext cx="4297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판정 정확도·Vapi 워커·엔진 결정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6108192"/>
            <a:ext cx="950976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3840" y="6382512"/>
            <a:ext cx="12801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40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6382512"/>
            <a:ext cx="38404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기대효과 및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75920" y="6382512"/>
            <a:ext cx="4297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학부모·학원·다른 문의 대행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7406640"/>
            <a:ext cx="950976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이론적 배경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과업 대화 구조·턴 전환·음성 전송 연구를 설계와 측정에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384048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과업 대화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834640"/>
            <a:ext cx="384048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067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턴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834640"/>
            <a:ext cx="384048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4691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1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음성 대화 평가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33119" y="2834640"/>
            <a:ext cx="384048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533119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85315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5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음성 전송·버퍼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53159" y="4526280"/>
            <a:ext cx="34290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RTP 20ms 패킷[5]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버퍼↑ 손실↓ 지연↑[6]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→ 지연과 끊김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함께 측정</a:t>
            </a:r>
          </a:p>
        </p:txBody>
      </p:sp>
      <p:sp>
        <p:nvSpPr>
          <p:cNvPr id="3" name="Rectangle 23"/>
          <p:cNvSpPr/>
          <p:nvPr/>
        </p:nvSpPr>
        <p:spPr>
          <a:xfrm>
            <a:off x="1234440" y="4526280"/>
            <a:ext cx="34290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RavenClaw[1]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과업 제어·대화 기능 분리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→ 문의·재발신·저장을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음성 처리와 분리</a:t>
            </a:r>
          </a:p>
        </p:txBody>
      </p:sp>
      <p:sp>
        <p:nvSpPr>
          <p:cNvPr id="4" name="Rectangle 23"/>
          <p:cNvSpPr/>
          <p:nvPr/>
        </p:nvSpPr>
        <p:spPr>
          <a:xfrm>
            <a:off x="5440680" y="4526280"/>
            <a:ext cx="34290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말 끝 판단의 어려움[2]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문맥 기반 턴 예측[3]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→ 쉼 끼어들기·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되짚기 후 대기 관찰</a:t>
            </a:r>
          </a:p>
        </p:txBody>
      </p:sp>
      <p:sp>
        <p:nvSpPr>
          <p:cNvPr id="25" name="Rectangle 23"/>
          <p:cNvSpPr/>
          <p:nvPr/>
        </p:nvSpPr>
        <p:spPr>
          <a:xfrm>
            <a:off x="9646920" y="4526280"/>
            <a:ext cx="34290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PARADISE[4]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성공·비용·만족 종합 평가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→ 초기 선정이라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실통화 지연·행동 관찰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최종 목표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학부모 대신 AI가 학원에 전화, 질문별 답 정확 저장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1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743200"/>
            <a:ext cx="4114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통화 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5120640" cy="14630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지금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업무 중 상담 시간에 부모 직접 통화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46120" y="5230368"/>
            <a:ext cx="457200" cy="384048"/>
          </a:xfrm>
          <a:prstGeom prst="down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5715000"/>
            <a:ext cx="5120640" cy="14630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문의 항목 선택만으로 AI 대신 발신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743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1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743200"/>
            <a:ext cx="4114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657600"/>
            <a:ext cx="5120640" cy="14630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지금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통화 중 질문 누락 잦음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15400" y="5230368"/>
            <a:ext cx="457200" cy="384048"/>
          </a:xfrm>
          <a:prstGeom prst="down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5715000"/>
            <a:ext cx="5120640" cy="14630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질문 누락 없이 질문·되짚기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12252960" y="2743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1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21640" y="2743200"/>
            <a:ext cx="4114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52960" y="3657600"/>
            <a:ext cx="5120640" cy="14630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지금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학원별 답변 개별 기억·메모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4584680" y="5230368"/>
            <a:ext cx="457200" cy="384048"/>
          </a:xfrm>
          <a:prstGeom prst="down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252960" y="5715000"/>
            <a:ext cx="5120640" cy="14630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spcAft>
                <a:spcPts val="400"/>
              </a:spcAft>
            </a:pPr>
            <a:r>
              <a:rPr lang="ko-KR" sz="1820" b="1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 algn="ctr">
              <a:spcAft>
                <a:spcPts val="400"/>
              </a:spcAft>
            </a:pPr>
            <a:r>
              <a:rPr lang="ko-KR" sz="21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질문별 답 저장, '아니오'·'미확인' 구분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7726679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7909560"/>
            <a:ext cx="16459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대상  ·  맞벌이 학부모의 학원 상담 문의 (통학차량·남은 자리·수업 시간 등)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503920"/>
            <a:ext cx="16459200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4440" y="8503920"/>
            <a:ext cx="158191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12/9 최종  웹 접수 → 실통화 → 질문별 결과 시연 · 음성 플랫폼 결정 · 판정 정확도 평가</a:t>
            </a:r>
          </a:p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측정 목표  응답 지연 중앙값 1.5초 이내 (과제 제안서 요구, 기업 멘토와 확정)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전체 구조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문의 접수부터 학원 통화·결과 저장까지 6단계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8321040" cy="27889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9718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우리 팀이 만드는 부분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2834640"/>
            <a:ext cx="7726679" cy="2788920"/>
          </a:xfrm>
          <a:prstGeom prst="rect">
            <a:avLst/>
          </a:prstGeom>
          <a:noFill/>
          <a:ln w="15875">
            <a:solidFill>
              <a:srgbClr val="D6D6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21240" y="29718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외부 서비스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20440"/>
            <a:ext cx="2331720" cy="16916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문의 입력·결과 조회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66160" y="4233672"/>
            <a:ext cx="274320" cy="237744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3520440"/>
            <a:ext cx="2331720" cy="16916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큐·재시도·저장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4233672"/>
            <a:ext cx="274320" cy="237744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3520440"/>
            <a:ext cx="2331720" cy="16916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음성 워커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질문 문장·결과 추출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61120" y="4233672"/>
            <a:ext cx="502920" cy="237744"/>
          </a:xfrm>
          <a:prstGeom prst="right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921240" y="3520440"/>
            <a:ext cx="21945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음성 엔진</a:t>
            </a:r>
          </a:p>
          <a:p>
            <a:pPr algn="ctr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ClawOps / Vapi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143232" y="4233672"/>
            <a:ext cx="274320" cy="237744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35840" y="3520440"/>
            <a:ext cx="21945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070 회선</a:t>
            </a:r>
          </a:p>
          <a:p>
            <a:pPr algn="ctr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ClawOps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4657832" y="4233672"/>
            <a:ext cx="274320" cy="237744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950440" y="3520440"/>
            <a:ext cx="21945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학원</a:t>
            </a:r>
          </a:p>
          <a:p>
            <a:pPr algn="ctr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전화 응대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5852160"/>
            <a:ext cx="82296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◀  결과: 워커가 질문별 답 추출 → 백엔드 저장 → 화면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585216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모델: GPT-Live (두 엔진 동일)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858000"/>
            <a:ext cx="16459200" cy="82296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25295" y="7168896"/>
            <a:ext cx="201168" cy="20116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0" y="6858000"/>
            <a:ext cx="155448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현재  실제 음성 워커로 화면 → ClawOps 실통화 → 결과 표시 확인 (공동 서버 3건) · Vapi 워커는 미구현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진행 현황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실제 음성 워커 연결 완료, 공동 서버 실통화 3건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파트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743200"/>
            <a:ext cx="78638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0" y="2743200"/>
            <a:ext cx="6035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16459200" cy="190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3310128"/>
            <a:ext cx="192023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310128"/>
            <a:ext cx="78638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문의·결과 API, 약관 동의 저장, 테스트 132개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38560" y="3310128"/>
            <a:ext cx="60350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453128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453128"/>
            <a:ext cx="192023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프론트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453128"/>
            <a:ext cx="78638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로그인·문의 접수·결과 조회 연결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38560" y="4453128"/>
            <a:ext cx="60350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5596128"/>
            <a:ext cx="192023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음성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596128"/>
            <a:ext cx="78638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엔진 2종 실통화 비교, 실제 음성 워커·판정 보완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5596128"/>
            <a:ext cx="60350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정확도·휴대폰 쪽 지연 평가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6739128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6739128"/>
            <a:ext cx="192023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6739128"/>
            <a:ext cx="78638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공동 서버 실제 워커로 실통화 3건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38560" y="6739128"/>
            <a:ext cx="603504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21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Vapi 워커 연결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7882128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" name="Rectangle 31"/>
          <p:cNvSpPr/>
          <p:nvPr/>
        </p:nvSpPr>
        <p:spPr>
          <a:xfrm>
            <a:off x="914400" y="8229600"/>
            <a:ext cx="16459200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4440" y="8229600"/>
            <a:ext cx="158191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계획서 대비  1차(큐·운영시간·재시도·실제 발신·AI·녹취 고지) 거의 완료</a:t>
            </a:r>
          </a:p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2차(목적형 대화·결과 분류·요약) 일부 · 폴백 미착수 · 3차 대시보드(선택) 미착수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백엔드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재발신·중복 차단·자동 테스트 197개로 결과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3840480" cy="3063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DB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834640"/>
            <a:ext cx="3840480" cy="3063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067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재시도·중복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834640"/>
            <a:ext cx="3840480" cy="3063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0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4691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1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자동 테스트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33119" y="2834640"/>
            <a:ext cx="3840480" cy="3063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533119" y="2834640"/>
            <a:ext cx="3840480" cy="25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853159" y="315468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86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59" y="3794760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AWS 개발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53159" y="4526280"/>
            <a:ext cx="3200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공동 서버에 백엔드·큐·실제 음성 워커 배포</a:t>
            </a:r>
          </a:p>
        </p:txBody>
      </p:sp>
      <p:sp>
        <p:nvSpPr>
          <p:cNvPr id="3" name="Rectangle 23"/>
          <p:cNvSpPr/>
          <p:nvPr/>
        </p:nvSpPr>
        <p:spPr>
          <a:xfrm>
            <a:off x="1234440" y="4526280"/>
            <a:ext cx="3200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DB 테이블 21개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문의 ID·통화 시도 ID 분리</a:t>
            </a:r>
          </a:p>
        </p:txBody>
      </p:sp>
      <p:sp>
        <p:nvSpPr>
          <p:cNvPr id="4" name="Rectangle 23"/>
          <p:cNvSpPr/>
          <p:nvPr/>
        </p:nvSpPr>
        <p:spPr>
          <a:xfrm>
            <a:off x="5440680" y="4526280"/>
            <a:ext cx="3200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부재중 300초 뒤 재발신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Idempotency-Key 중복 접수 차단</a:t>
            </a:r>
          </a:p>
        </p:txBody>
      </p:sp>
      <p:sp>
        <p:nvSpPr>
          <p:cNvPr id="25" name="Rectangle 23"/>
          <p:cNvSpPr/>
          <p:nvPr/>
        </p:nvSpPr>
        <p:spPr>
          <a:xfrm>
            <a:off x="9646920" y="4526280"/>
            <a:ext cx="3200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자동 테스트 197개 통과</a:t>
            </a:r>
          </a:p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백엔드 132·목업 30·워커 35</a:t>
            </a:r>
          </a:p>
        </p:txBody>
      </p:sp>
      <p:sp>
        <p:nvSpPr>
          <p:cNvPr id="26" name="Rectangle 8"/>
          <p:cNvSpPr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처리 흐름</a:t>
            </a:r>
          </a:p>
        </p:txBody>
      </p:sp>
      <p:sp>
        <p:nvSpPr>
          <p:cNvPr id="27" name="Rectangle 11"/>
          <p:cNvSpPr/>
          <p:nvPr/>
        </p:nvSpPr>
        <p:spPr>
          <a:xfrm>
            <a:off x="914400" y="6812280"/>
            <a:ext cx="2743200" cy="15544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문의 접수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웹 화면</a:t>
            </a:r>
          </a:p>
        </p:txBody>
      </p:sp>
      <p:sp>
        <p:nvSpPr>
          <p:cNvPr id="28" name="Right Arrow 12"/>
          <p:cNvSpPr/>
          <p:nvPr/>
        </p:nvSpPr>
        <p:spPr>
          <a:xfrm>
            <a:off x="3767328" y="7452360"/>
            <a:ext cx="3657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1"/>
          <p:cNvSpPr/>
          <p:nvPr/>
        </p:nvSpPr>
        <p:spPr>
          <a:xfrm>
            <a:off x="4251960" y="6812280"/>
            <a:ext cx="2743200" cy="15544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발신 큐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운영시간·순서</a:t>
            </a:r>
          </a:p>
        </p:txBody>
      </p:sp>
      <p:sp>
        <p:nvSpPr>
          <p:cNvPr id="30" name="Right Arrow 12"/>
          <p:cNvSpPr/>
          <p:nvPr/>
        </p:nvSpPr>
        <p:spPr>
          <a:xfrm>
            <a:off x="7104888" y="7452360"/>
            <a:ext cx="3657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1"/>
          <p:cNvSpPr/>
          <p:nvPr/>
        </p:nvSpPr>
        <p:spPr>
          <a:xfrm>
            <a:off x="7589520" y="6812280"/>
            <a:ext cx="2743200" cy="15544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음성 워커 발신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ClawOps 통화</a:t>
            </a:r>
          </a:p>
        </p:txBody>
      </p:sp>
      <p:sp>
        <p:nvSpPr>
          <p:cNvPr id="32" name="Right Arrow 12"/>
          <p:cNvSpPr/>
          <p:nvPr/>
        </p:nvSpPr>
        <p:spPr>
          <a:xfrm>
            <a:off x="10442448" y="7452360"/>
            <a:ext cx="3657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7"/>
          <p:cNvSpPr/>
          <p:nvPr/>
        </p:nvSpPr>
        <p:spPr>
          <a:xfrm>
            <a:off x="10927080" y="6812280"/>
            <a:ext cx="27432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부재중이면</a:t>
            </a:r>
          </a:p>
          <a:p>
            <a:pPr algn="ctr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300초 뒤 재발신</a:t>
            </a:r>
          </a:p>
        </p:txBody>
      </p:sp>
      <p:sp>
        <p:nvSpPr>
          <p:cNvPr id="34" name="Right Arrow 12"/>
          <p:cNvSpPr/>
          <p:nvPr/>
        </p:nvSpPr>
        <p:spPr>
          <a:xfrm>
            <a:off x="13780008" y="7452360"/>
            <a:ext cx="3657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1"/>
          <p:cNvSpPr/>
          <p:nvPr/>
        </p:nvSpPr>
        <p:spPr>
          <a:xfrm>
            <a:off x="14264640" y="6812280"/>
            <a:ext cx="2743200" cy="15544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저장</a:t>
            </a:r>
          </a:p>
          <a:p>
            <a:pPr algn="ctr"/>
            <a:r>
              <a:rPr lang="ko-KR" sz="1820" b="0">
                <a:solidFill>
                  <a:srgbClr val="D9D3CB"/>
                </a:solidFill>
                <a:latin typeface="맑은 고딕"/>
                <a:ea typeface="맑은 고딕"/>
                <a:cs typeface="맑은 고딕"/>
              </a:rPr>
              <a:t>질문별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프론트엔드 ① 상담 홈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최근 문의와 처리 상태를 한 화면에서 확인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09041"/>
            <a:ext cx="10058400" cy="6434877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0" name="Oval 9"/>
          <p:cNvSpPr/>
          <p:nvPr/>
        </p:nvSpPr>
        <p:spPr>
          <a:xfrm>
            <a:off x="12070080" y="29260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47319" y="294436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새 상담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19" y="3520440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홈에서 바로 문의 접수</a:t>
            </a:r>
          </a:p>
        </p:txBody>
      </p:sp>
      <p:sp>
        <p:nvSpPr>
          <p:cNvPr id="3" name="Oval 9"/>
          <p:cNvSpPr/>
          <p:nvPr/>
        </p:nvSpPr>
        <p:spPr>
          <a:xfrm>
            <a:off x="12070080" y="45262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Rectangle 10"/>
          <p:cNvSpPr/>
          <p:nvPr/>
        </p:nvSpPr>
        <p:spPr>
          <a:xfrm>
            <a:off x="12847319" y="454456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최근 상담</a:t>
            </a:r>
          </a:p>
        </p:txBody>
      </p:sp>
      <p:sp>
        <p:nvSpPr>
          <p:cNvPr id="9" name="Rectangle 11"/>
          <p:cNvSpPr/>
          <p:nvPr/>
        </p:nvSpPr>
        <p:spPr>
          <a:xfrm>
            <a:off x="12847319" y="5120640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학원·학생 조건·질문 태그</a:t>
            </a:r>
          </a:p>
        </p:txBody>
      </p:sp>
      <p:sp>
        <p:nvSpPr>
          <p:cNvPr id="13" name="Oval 9"/>
          <p:cNvSpPr/>
          <p:nvPr/>
        </p:nvSpPr>
        <p:spPr>
          <a:xfrm>
            <a:off x="12070080" y="61264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Rectangle 10"/>
          <p:cNvSpPr/>
          <p:nvPr/>
        </p:nvSpPr>
        <p:spPr>
          <a:xfrm>
            <a:off x="12847319" y="6144768"/>
            <a:ext cx="4937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처리 상태</a:t>
            </a:r>
          </a:p>
        </p:txBody>
      </p:sp>
      <p:sp>
        <p:nvSpPr>
          <p:cNvPr id="15" name="Rectangle 11"/>
          <p:cNvSpPr/>
          <p:nvPr/>
        </p:nvSpPr>
        <p:spPr>
          <a:xfrm>
            <a:off x="12847319" y="6720840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상담 완료 등 단계 배지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프론트엔드 ② 문의 입력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학원·학생 조건·질문만 고르면 접수 완료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9402183" cy="694944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0" name="Oval 9"/>
          <p:cNvSpPr/>
          <p:nvPr/>
        </p:nvSpPr>
        <p:spPr>
          <a:xfrm>
            <a:off x="11413863" y="29260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1102" y="2944368"/>
            <a:ext cx="559397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학원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1102" y="3520440"/>
            <a:ext cx="5593977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운영 중 학원 목록에서 선택</a:t>
            </a:r>
          </a:p>
        </p:txBody>
      </p:sp>
      <p:sp>
        <p:nvSpPr>
          <p:cNvPr id="3" name="Oval 9"/>
          <p:cNvSpPr/>
          <p:nvPr/>
        </p:nvSpPr>
        <p:spPr>
          <a:xfrm>
            <a:off x="11413863" y="45262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Rectangle 10"/>
          <p:cNvSpPr/>
          <p:nvPr/>
        </p:nvSpPr>
        <p:spPr>
          <a:xfrm>
            <a:off x="12191102" y="4544568"/>
            <a:ext cx="559397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학생 정보</a:t>
            </a:r>
          </a:p>
        </p:txBody>
      </p:sp>
      <p:sp>
        <p:nvSpPr>
          <p:cNvPr id="9" name="Rectangle 11"/>
          <p:cNvSpPr/>
          <p:nvPr/>
        </p:nvSpPr>
        <p:spPr>
          <a:xfrm>
            <a:off x="12191102" y="5120640"/>
            <a:ext cx="5593977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학년·과목·수준·지역</a:t>
            </a:r>
          </a:p>
        </p:txBody>
      </p:sp>
      <p:sp>
        <p:nvSpPr>
          <p:cNvPr id="13" name="Oval 9"/>
          <p:cNvSpPr/>
          <p:nvPr/>
        </p:nvSpPr>
        <p:spPr>
          <a:xfrm>
            <a:off x="11413863" y="61264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Rectangle 10"/>
          <p:cNvSpPr/>
          <p:nvPr/>
        </p:nvSpPr>
        <p:spPr>
          <a:xfrm>
            <a:off x="12191102" y="6144768"/>
            <a:ext cx="559397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문의 항목</a:t>
            </a:r>
          </a:p>
        </p:txBody>
      </p:sp>
      <p:sp>
        <p:nvSpPr>
          <p:cNvPr id="15" name="Rectangle 11"/>
          <p:cNvSpPr/>
          <p:nvPr/>
        </p:nvSpPr>
        <p:spPr>
          <a:xfrm>
            <a:off x="12191102" y="6720840"/>
            <a:ext cx="5593977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6개 중 선택, 상담 확인은 항상 포함</a:t>
            </a:r>
          </a:p>
        </p:txBody>
      </p:sp>
      <p:sp>
        <p:nvSpPr>
          <p:cNvPr id="16" name="Oval 9"/>
          <p:cNvSpPr/>
          <p:nvPr/>
        </p:nvSpPr>
        <p:spPr>
          <a:xfrm>
            <a:off x="11413863" y="7726679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Rectangle 10"/>
          <p:cNvSpPr/>
          <p:nvPr/>
        </p:nvSpPr>
        <p:spPr>
          <a:xfrm>
            <a:off x="12191102" y="7744967"/>
            <a:ext cx="559397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상담 내용</a:t>
            </a:r>
          </a:p>
        </p:txBody>
      </p:sp>
      <p:sp>
        <p:nvSpPr>
          <p:cNvPr id="18" name="Rectangle 11"/>
          <p:cNvSpPr/>
          <p:nvPr/>
        </p:nvSpPr>
        <p:spPr>
          <a:xfrm>
            <a:off x="12191102" y="8321040"/>
            <a:ext cx="5593977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선택 학원·항목·방식 미리보기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프론트엔드 ③ 결과 화면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질문별 답을 가능·불가·시간 확인·미확인으로 구분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7467600" cy="640080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914400" y="914400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 dirty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화면 예시는 </a:t>
            </a:r>
            <a:r>
              <a:rPr lang="ko-KR" sz="2080" b="0" dirty="0" err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목업</a:t>
            </a:r>
            <a:r>
              <a:rPr lang="ko-KR" sz="2080" b="0" dirty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 결과 · </a:t>
            </a:r>
            <a:r>
              <a:rPr lang="ko-KR" sz="2080" b="0" dirty="0" err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실통화</a:t>
            </a:r>
            <a:r>
              <a:rPr lang="ko-KR" sz="2080" b="0" dirty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 결과는 1</a:t>
            </a:r>
            <a:r>
              <a:rPr lang="en-US" altLang="ko-KR" sz="2080" b="0" dirty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lang="ko-KR" sz="2080" b="0" dirty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쪽 시연</a:t>
            </a:r>
          </a:p>
        </p:txBody>
      </p:sp>
      <p:sp>
        <p:nvSpPr>
          <p:cNvPr id="10" name="Oval 9"/>
          <p:cNvSpPr/>
          <p:nvPr/>
        </p:nvSpPr>
        <p:spPr>
          <a:xfrm>
            <a:off x="9479279" y="29260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56519" y="2944368"/>
            <a:ext cx="75285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상담 요약</a:t>
            </a:r>
          </a:p>
        </p:txBody>
      </p:sp>
      <p:sp>
        <p:nvSpPr>
          <p:cNvPr id="3" name="Rectangle 11"/>
          <p:cNvSpPr/>
          <p:nvPr/>
        </p:nvSpPr>
        <p:spPr>
          <a:xfrm>
            <a:off x="10256519" y="3520440"/>
            <a:ext cx="75285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요청 질문 중 확인된 개수</a:t>
            </a:r>
          </a:p>
        </p:txBody>
      </p:sp>
      <p:sp>
        <p:nvSpPr>
          <p:cNvPr id="4" name="Oval 9"/>
          <p:cNvSpPr/>
          <p:nvPr/>
        </p:nvSpPr>
        <p:spPr>
          <a:xfrm>
            <a:off x="9479279" y="45262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Rectangle 10"/>
          <p:cNvSpPr/>
          <p:nvPr/>
        </p:nvSpPr>
        <p:spPr>
          <a:xfrm>
            <a:off x="10256519" y="4544568"/>
            <a:ext cx="75285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항목별 결과</a:t>
            </a:r>
          </a:p>
        </p:txBody>
      </p:sp>
      <p:sp>
        <p:nvSpPr>
          <p:cNvPr id="13" name="Rectangle 11"/>
          <p:cNvSpPr/>
          <p:nvPr/>
        </p:nvSpPr>
        <p:spPr>
          <a:xfrm>
            <a:off x="10256519" y="5120640"/>
            <a:ext cx="75285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가능 · 불가 · 시간 확인 · 미확인</a:t>
            </a:r>
          </a:p>
        </p:txBody>
      </p:sp>
      <p:sp>
        <p:nvSpPr>
          <p:cNvPr id="14" name="Oval 9"/>
          <p:cNvSpPr/>
          <p:nvPr/>
        </p:nvSpPr>
        <p:spPr>
          <a:xfrm>
            <a:off x="9479279" y="612648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Rectangle 10"/>
          <p:cNvSpPr/>
          <p:nvPr/>
        </p:nvSpPr>
        <p:spPr>
          <a:xfrm>
            <a:off x="10256519" y="6144768"/>
            <a:ext cx="75285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연락 기록</a:t>
            </a:r>
          </a:p>
        </p:txBody>
      </p:sp>
      <p:sp>
        <p:nvSpPr>
          <p:cNvPr id="16" name="Rectangle 11"/>
          <p:cNvSpPr/>
          <p:nvPr/>
        </p:nvSpPr>
        <p:spPr>
          <a:xfrm>
            <a:off x="10256519" y="6720840"/>
            <a:ext cx="75285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통화 시도별 시각·상태</a:t>
            </a:r>
          </a:p>
        </p:txBody>
      </p:sp>
      <p:sp>
        <p:nvSpPr>
          <p:cNvPr id="17" name="Oval 9"/>
          <p:cNvSpPr/>
          <p:nvPr/>
        </p:nvSpPr>
        <p:spPr>
          <a:xfrm>
            <a:off x="9479279" y="7726679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Rectangle 10"/>
          <p:cNvSpPr/>
          <p:nvPr/>
        </p:nvSpPr>
        <p:spPr>
          <a:xfrm>
            <a:off x="10256519" y="7744967"/>
            <a:ext cx="75285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추가 상담</a:t>
            </a:r>
          </a:p>
        </p:txBody>
      </p:sp>
      <p:sp>
        <p:nvSpPr>
          <p:cNvPr id="19" name="Rectangle 11"/>
          <p:cNvSpPr/>
          <p:nvPr/>
        </p:nvSpPr>
        <p:spPr>
          <a:xfrm>
            <a:off x="10256519" y="8321040"/>
            <a:ext cx="75285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가능 시간 안내, 예약 확정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음성 ① 엔진 비교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지연은 Vapi가 빠른 경향(차이 확정 불가), 완전 무음·비용은 ClawOps 우위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60350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ClawOps 에이전트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0" y="2697480"/>
            <a:ext cx="60350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86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Vapi (ClawOps SIP)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697480"/>
            <a:ext cx="38404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4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29000"/>
            <a:ext cx="16459200" cy="190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3520440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3080" b="0">
                <a:solidFill>
                  <a:srgbClr val="8C8C8C"/>
                </a:solidFill>
                <a:latin typeface="HY헤드라인M"/>
                <a:ea typeface="HY헤드라인M"/>
                <a:cs typeface="HY헤드라인M"/>
              </a:rPr>
              <a:t>1.57초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520440"/>
            <a:ext cx="3840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21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지연 중앙값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38560" y="3520440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08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1.42초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25112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4361688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3080" b="0">
                <a:solidFill>
                  <a:srgbClr val="8C8C8C"/>
                </a:solidFill>
                <a:latin typeface="HY헤드라인M"/>
                <a:ea typeface="HY헤드라인M"/>
                <a:cs typeface="HY헤드라인M"/>
              </a:rPr>
              <a:t>1.98초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361688"/>
            <a:ext cx="3840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21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지연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0" y="4361688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08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1.78초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166360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5202936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3080" b="0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24/24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5202936"/>
            <a:ext cx="3840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21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정확도 (예비 확인)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38560" y="5202936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080" b="0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23/23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007608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6044184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308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0번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6044184"/>
            <a:ext cx="3840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21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말 도중 완전 무음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6044184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080" b="0">
                <a:solidFill>
                  <a:srgbClr val="8C8C8C"/>
                </a:solidFill>
                <a:latin typeface="HY헤드라인M"/>
                <a:ea typeface="HY헤드라인M"/>
                <a:cs typeface="HY헤드라인M"/>
              </a:rPr>
              <a:t>12번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6848856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6885432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3080" b="1">
                <a:solidFill>
                  <a:srgbClr val="111111"/>
                </a:solidFill>
                <a:latin typeface="HY헤드라인M"/>
                <a:ea typeface="HY헤드라인M"/>
                <a:cs typeface="HY헤드라인M"/>
              </a:rPr>
              <a:t>약 ₩29,500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6885432"/>
            <a:ext cx="3840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221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월 비용 (100분)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338560" y="6885432"/>
            <a:ext cx="603504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3080" b="0">
                <a:solidFill>
                  <a:srgbClr val="8C8C8C"/>
                </a:solidFill>
                <a:latin typeface="HY헤드라인M"/>
                <a:ea typeface="HY헤드라인M"/>
                <a:cs typeface="HY헤드라인M"/>
              </a:rPr>
              <a:t>약 ₩131,930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7690104"/>
            <a:ext cx="16459200" cy="127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7909560"/>
            <a:ext cx="1645920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4440" y="7909560"/>
            <a:ext cx="158191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결정  SIP 갱신 전(11/11쯤)까지 비교 후 결정 · 멘토 목표 중앙값 1.5초 이내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음성 ② Vapi가 빠른 경향을 보인 이유 (추정)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버퍼 차이가 중앙값 차이 0.15초의 일부 설명, 원인별 기여는 미확인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9601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1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응답마다 붙는 버퍼 대기 (평균, 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18288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ClawOps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429000"/>
            <a:ext cx="2651760" cy="7772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묶음 ≈50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429000"/>
            <a:ext cx="4242816" cy="77724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 버퍼 ≈80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18288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r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Vapi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572000"/>
            <a:ext cx="530352" cy="7772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39312" y="4572000"/>
            <a:ext cx="68580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195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입력 ≈10 (추정) · 출력 버퍼 공개값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5577840"/>
            <a:ext cx="7955280" cy="127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0" y="5504688"/>
            <a:ext cx="12700" cy="14630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5687568"/>
            <a:ext cx="914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156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5504688"/>
            <a:ext cx="12700" cy="14630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0" y="5687568"/>
            <a:ext cx="914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156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504688"/>
            <a:ext cx="12700" cy="14630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5687568"/>
            <a:ext cx="914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156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0" y="5504688"/>
            <a:ext cx="12700" cy="14630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424160" y="5687568"/>
            <a:ext cx="914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156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150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309360"/>
            <a:ext cx="9601200" cy="91440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ko-KR" sz="216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ClawOps 버퍼 ≈130ms · Vapi 입력 ≈10ms(추정)·출력 미공개</a:t>
            </a:r>
          </a:p>
          <a:p>
            <a:pPr algn="ctr"/>
            <a:r>
              <a:rPr lang="ko-KR" sz="216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0.15초 차이의 일부만 설명</a:t>
            </a:r>
          </a:p>
        </p:txBody>
      </p:sp>
      <p:sp>
        <p:nvSpPr>
          <p:cNvPr id="25" name="Oval 24"/>
          <p:cNvSpPr/>
          <p:nvPr/>
        </p:nvSpPr>
        <p:spPr>
          <a:xfrm>
            <a:off x="11247120" y="274320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24360" y="2761488"/>
            <a:ext cx="5349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말 끝 판단은 두 엔진 모두 모델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24360" y="3337560"/>
            <a:ext cx="53492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GPT-Live 모드엔 ClawOps 무음 대기 없음</a:t>
            </a:r>
          </a:p>
        </p:txBody>
      </p:sp>
      <p:sp>
        <p:nvSpPr>
          <p:cNvPr id="28" name="Oval 27"/>
          <p:cNvSpPr/>
          <p:nvPr/>
        </p:nvSpPr>
        <p:spPr>
          <a:xfrm>
            <a:off x="11247120" y="425196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24360" y="4270248"/>
            <a:ext cx="5349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버퍼로 얻은 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24360" y="4846320"/>
            <a:ext cx="53492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완전 무음 ClawOps 0번 · Vapi 12번</a:t>
            </a:r>
          </a:p>
        </p:txBody>
      </p:sp>
      <p:sp>
        <p:nvSpPr>
          <p:cNvPr id="31" name="Oval 30"/>
          <p:cNvSpPr/>
          <p:nvPr/>
        </p:nvSpPr>
        <p:spPr>
          <a:xfrm>
            <a:off x="11247120" y="576072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24360" y="5779007"/>
            <a:ext cx="5349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추정의 한계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24360" y="6355080"/>
            <a:ext cx="53492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Vapi 미국 서버 추가 경유 · 내부 처리 미계측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음성 ③ 지연 측정 도구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녹음 16개 직접 구간 지정, '사람 말 끝 → AI 첫 소리' 간격 측정</a:t>
            </a:r>
          </a:p>
        </p:txBody>
      </p:sp>
      <p:pic>
        <p:nvPicPr>
          <p:cNvPr id="8" name="Picture 7" descr="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607040" cy="54522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344400" y="3108960"/>
            <a:ext cx="19050" cy="41148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070080" y="283464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47319" y="2852928"/>
            <a:ext cx="45262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자동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19" y="3429000"/>
            <a:ext cx="4526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VAD·화자 임베딩 1차 측정, 경계 어긋남</a:t>
            </a:r>
          </a:p>
        </p:txBody>
      </p:sp>
      <p:sp>
        <p:nvSpPr>
          <p:cNvPr id="13" name="Oval 12"/>
          <p:cNvSpPr/>
          <p:nvPr/>
        </p:nvSpPr>
        <p:spPr>
          <a:xfrm>
            <a:off x="12070080" y="420624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47319" y="4224527"/>
            <a:ext cx="45262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직접 측정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47319" y="4800600"/>
            <a:ext cx="4526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−60dB 구간 청취, 경계 직접 지정</a:t>
            </a:r>
          </a:p>
        </p:txBody>
      </p:sp>
      <p:sp>
        <p:nvSpPr>
          <p:cNvPr id="16" name="Oval 15"/>
          <p:cNvSpPr/>
          <p:nvPr/>
        </p:nvSpPr>
        <p:spPr>
          <a:xfrm>
            <a:off x="12070080" y="5577840"/>
            <a:ext cx="548640" cy="5486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47319" y="5596127"/>
            <a:ext cx="45262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즉시 계산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19" y="6172200"/>
            <a:ext cx="4526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응답 수·중앙값·p95·초과 비율</a:t>
            </a:r>
          </a:p>
        </p:txBody>
      </p:sp>
      <p:sp>
        <p:nvSpPr>
          <p:cNvPr id="19" name="Oval 18"/>
          <p:cNvSpPr/>
          <p:nvPr/>
        </p:nvSpPr>
        <p:spPr>
          <a:xfrm>
            <a:off x="12070080" y="694944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47319" y="6967727"/>
            <a:ext cx="45262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측정 결과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47319" y="7543800"/>
            <a:ext cx="45262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200"/>
              </a:spcAft>
            </a:pPr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ClawOps 49개 · Vapi 44개 응답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실통화 녹음 발췌</a:t>
            </a:r>
          </a:p>
        </p:txBody>
      </p:sp>
      <p:sp>
        <p:nvSpPr>
          <p:cNvPr id="6" name="Oval 5"/>
          <p:cNvSpPr/>
          <p:nvPr/>
        </p:nvSpPr>
        <p:spPr>
          <a:xfrm>
            <a:off x="923290" y="1911350"/>
            <a:ext cx="146050" cy="14605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635" cy="5035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27305" rIns="0" bIns="27305" numCol="1" anchor="ctr">
            <a:noAutofit/>
          </a:bodyPr>
          <a:lstStyle/>
          <a:p>
            <a:pPr marL="0" indent="0" algn="l">
              <a:buFontTx/>
              <a:buNone/>
            </a:pPr>
            <a:r>
              <a:rPr lang="ko-KR" sz="2400" b="0">
                <a:solidFill>
                  <a:srgbClr val="726B6B"/>
                </a:solidFill>
                <a:latin typeface="맑은 고딕" charset="0"/>
                <a:ea typeface="맑은 고딕" charset="0"/>
                <a:cs typeface="맑은 고딕" charset="0"/>
              </a:rPr>
              <a:t>같은 대본 A, 두 엔진 모두 질문 → 답 → 되짚기 대화 성립</a:t>
            </a:r>
            <a:endParaRPr lang="ko-KR" altLang="en-US" sz="2400" b="0">
              <a:solidFill>
                <a:srgbClr val="726B6B"/>
              </a:solidFill>
              <a:latin typeface="맑은 고딕" charset="0"/>
              <a:ea typeface="맑은 고딕" charset="0"/>
              <a:cs typeface="맑은 고딕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16459200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3063240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ClawOps 에이전트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703320"/>
            <a:ext cx="100584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400"/>
              </a:spcAft>
            </a:pPr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장면: 남은 자리 질문 → 답 → 되짚기</a:t>
            </a:r>
          </a:p>
          <a:p>
            <a:pPr algn="l">
              <a:spcAft>
                <a:spcPts val="400"/>
              </a:spcAft>
            </a:pPr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학원 답을 정확히 되짚고 확인받음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212080"/>
            <a:ext cx="16459200" cy="2148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5486400"/>
            <a:ext cx="100584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Vapi (ClawOps SIP)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6126480"/>
            <a:ext cx="100584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400"/>
              </a:spcAft>
            </a:pPr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장면: 남은 자리 질문 → 답 → 되짚기</a:t>
            </a:r>
          </a:p>
          <a:p>
            <a:pPr algn="l">
              <a:spcAft>
                <a:spcPts val="400"/>
              </a:spcAft>
            </a:pPr>
            <a:r>
              <a:rPr lang="ko-KR" sz="216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같은 흐름으로 대화 성립 · 이 구간 완전 무음 없음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실통화 시연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웹 접수부터 결과 표시까지 2분 37초, 공동 서버 실통화 (10/19)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502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743200"/>
            <a:ext cx="32918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문의 접수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58768"/>
            <a:ext cx="3840480" cy="2432304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914400" y="6537960"/>
            <a:ext cx="393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21:26:36 · 실통화 확인 후 접수</a:t>
            </a:r>
          </a:p>
        </p:txBody>
      </p:sp>
      <p:sp>
        <p:nvSpPr>
          <p:cNvPr id="3" name="Rectangle 7"/>
          <p:cNvSpPr/>
          <p:nvPr/>
        </p:nvSpPr>
        <p:spPr>
          <a:xfrm>
            <a:off x="5120640" y="2743200"/>
            <a:ext cx="502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Rectangle 8"/>
          <p:cNvSpPr/>
          <p:nvPr/>
        </p:nvSpPr>
        <p:spPr>
          <a:xfrm>
            <a:off x="5623559" y="2743200"/>
            <a:ext cx="32918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접수 완료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00659"/>
            <a:ext cx="3840480" cy="214852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1" name="Rectangle 16"/>
          <p:cNvSpPr/>
          <p:nvPr/>
        </p:nvSpPr>
        <p:spPr>
          <a:xfrm>
            <a:off x="5120640" y="6537960"/>
            <a:ext cx="393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21:26:36 · 처리 대기, 연락 준비</a:t>
            </a:r>
          </a:p>
        </p:txBody>
      </p:sp>
      <p:sp>
        <p:nvSpPr>
          <p:cNvPr id="12" name="Rectangle 7"/>
          <p:cNvSpPr/>
          <p:nvPr/>
        </p:nvSpPr>
        <p:spPr>
          <a:xfrm>
            <a:off x="9326880" y="2743200"/>
            <a:ext cx="502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Rectangle 8"/>
          <p:cNvSpPr/>
          <p:nvPr/>
        </p:nvSpPr>
        <p:spPr>
          <a:xfrm>
            <a:off x="9829800" y="2743200"/>
            <a:ext cx="32918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전화 상담 중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4000659"/>
            <a:ext cx="3840480" cy="214852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4" name="Rectangle 16"/>
          <p:cNvSpPr/>
          <p:nvPr/>
        </p:nvSpPr>
        <p:spPr>
          <a:xfrm>
            <a:off x="9326880" y="6537960"/>
            <a:ext cx="393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21:26:37 · 발신, 5초마다 갱신</a:t>
            </a:r>
          </a:p>
        </p:txBody>
      </p:sp>
      <p:sp>
        <p:nvSpPr>
          <p:cNvPr id="15" name="Rectangle 7"/>
          <p:cNvSpPr/>
          <p:nvPr/>
        </p:nvSpPr>
        <p:spPr>
          <a:xfrm>
            <a:off x="13533119" y="2743200"/>
            <a:ext cx="5029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64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Rectangle 8"/>
          <p:cNvSpPr/>
          <p:nvPr/>
        </p:nvSpPr>
        <p:spPr>
          <a:xfrm>
            <a:off x="14036040" y="2743200"/>
            <a:ext cx="32918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2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결과 표시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3973803"/>
            <a:ext cx="3840480" cy="2202233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1" name="Rectangle 16"/>
          <p:cNvSpPr/>
          <p:nvPr/>
        </p:nvSpPr>
        <p:spPr>
          <a:xfrm>
            <a:off x="13533119" y="6537960"/>
            <a:ext cx="3931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21:29:13 · 3개 중 3개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7589520"/>
            <a:ext cx="1645920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4440" y="7589520"/>
            <a:ext cx="158191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통화 대기 시간이 길어 영상 대신 단계별 화면으로 대체 · 판정 오류 1건(되짚기 정정)은 규칙 보완 완료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멘토 피드백 반영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응답 속도 기준·개인정보 동의 설계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2834640"/>
            <a:ext cx="12700" cy="49377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7680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피드백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680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320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응답 속도 중앙값 1.5초 이내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212080"/>
            <a:ext cx="7680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목표 확정, 두 엔진 동일 기준 비교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Vapi 1.42초 충족, ClawOps 1.57초(0.07초 초과)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원인 일부 버퍼로 추정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722376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10/14 멘토 회의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834640"/>
            <a:ext cx="7680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피드백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291840"/>
            <a:ext cx="7680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320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개인정보 동의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480060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5212080"/>
            <a:ext cx="7680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회원가입 시 약관 동의 필수화, 동의 시각 저장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통화 첫인사 AI 상담원·녹음 고지 (두 엔진 8/8)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722376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10/14 멘토 회의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향후 추진 내용</a:t>
            </a:r>
          </a:p>
        </p:txBody>
      </p:sp>
      <p:sp>
        <p:nvSpPr>
          <p:cNvPr id="6" name="Oval 5"/>
          <p:cNvSpPr/>
          <p:nvPr/>
        </p:nvSpPr>
        <p:spPr>
          <a:xfrm>
            <a:off x="923290" y="1911350"/>
            <a:ext cx="146050" cy="14605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판정 정확도 평가·Vapi 워커 연결 후 11월 엔진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40680"/>
            <a:ext cx="15544800" cy="1905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5349240"/>
            <a:ext cx="12700" cy="18288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63040" y="5577840"/>
            <a:ext cx="1097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69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10월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03570" y="5349240"/>
            <a:ext cx="12700" cy="18288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95010" y="5577840"/>
            <a:ext cx="1097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69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11월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48970" y="5349240"/>
            <a:ext cx="12700" cy="18288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440410" y="5577840"/>
            <a:ext cx="1097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690" b="0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12월</a:t>
            </a:r>
          </a:p>
        </p:txBody>
      </p:sp>
      <p:sp>
        <p:nvSpPr>
          <p:cNvPr id="16" name="Oval 15"/>
          <p:cNvSpPr/>
          <p:nvPr/>
        </p:nvSpPr>
        <p:spPr>
          <a:xfrm>
            <a:off x="2745105" y="5285105"/>
            <a:ext cx="311150" cy="31115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00680" y="4251960"/>
            <a:ext cx="12700" cy="100584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3320" y="288036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10.21 · 10.23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3320" y="3474720"/>
            <a:ext cx="3474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중간발표</a:t>
            </a:r>
          </a:p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학회 논문 제출</a:t>
            </a:r>
          </a:p>
        </p:txBody>
      </p:sp>
      <p:sp>
        <p:nvSpPr>
          <p:cNvPr id="20" name="Oval 19"/>
          <p:cNvSpPr/>
          <p:nvPr/>
        </p:nvSpPr>
        <p:spPr>
          <a:xfrm>
            <a:off x="4528820" y="5285105"/>
            <a:ext cx="311150" cy="31115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84395" y="5623560"/>
            <a:ext cx="12700" cy="6858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47035" y="640080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10.28 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7035" y="6995160"/>
            <a:ext cx="34747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판정 정확도 평가</a:t>
            </a:r>
          </a:p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Vapi 워커 연결</a:t>
            </a:r>
          </a:p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휴대폰 쪽 지연 측정</a:t>
            </a:r>
          </a:p>
        </p:txBody>
      </p:sp>
      <p:sp>
        <p:nvSpPr>
          <p:cNvPr id="24" name="Oval 23"/>
          <p:cNvSpPr/>
          <p:nvPr/>
        </p:nvSpPr>
        <p:spPr>
          <a:xfrm>
            <a:off x="8096885" y="5285105"/>
            <a:ext cx="311150" cy="31115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51825" y="4251960"/>
            <a:ext cx="12700" cy="100584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14465" y="288036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11.11쯤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4465" y="3474720"/>
            <a:ext cx="3474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엔진 결정</a:t>
            </a:r>
          </a:p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SIP 직접연결 갱신 전</a:t>
            </a:r>
          </a:p>
        </p:txBody>
      </p:sp>
      <p:sp>
        <p:nvSpPr>
          <p:cNvPr id="28" name="Oval 27"/>
          <p:cNvSpPr/>
          <p:nvPr/>
        </p:nvSpPr>
        <p:spPr>
          <a:xfrm>
            <a:off x="15231745" y="5285105"/>
            <a:ext cx="311150" cy="31115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387320" y="5623560"/>
            <a:ext cx="12700" cy="68580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649960" y="640080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640" b="1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12.9 (15주차)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49960" y="6995160"/>
            <a:ext cx="34747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최종 보고서·발표</a:t>
            </a:r>
          </a:p>
          <a:p>
            <a:pPr algn="ctr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결과물 시연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229600"/>
            <a:ext cx="16459200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234440" y="8229600"/>
            <a:ext cx="158191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계획서 남은 항목  재시도 초과 시 알림톡/SMS 폴백 · 대기 요청 우선순위 정책</a:t>
            </a:r>
          </a:p>
          <a:p>
            <a:pPr algn="l"/>
            <a:r>
              <a:rPr lang="ko-KR" sz="2160" b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학원 측 녹음·처리 동의 방법 · 운영 대시보드(선택)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8560" y="182880"/>
            <a:ext cx="60350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r"/>
            <a:r>
              <a:rPr lang="ko-KR" sz="15000" b="1">
                <a:solidFill>
                  <a:srgbClr val="EEEEEE"/>
                </a:solidFill>
                <a:latin typeface="HY헤드라인M"/>
                <a:ea typeface="HY헤드라인M"/>
                <a:cs typeface="HY헤드라인M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77240"/>
            <a:ext cx="12801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4000" b="1">
                <a:solidFill>
                  <a:srgbClr val="595959"/>
                </a:solidFill>
                <a:latin typeface="HY헤드라인M"/>
                <a:ea typeface="HY헤드라인M"/>
                <a:cs typeface="HY헤드라인M"/>
              </a:rPr>
              <a:t>기대효과 및 활용 방안</a:t>
            </a:r>
          </a:p>
        </p:txBody>
      </p:sp>
      <p:sp>
        <p:nvSpPr>
          <p:cNvPr id="6" name="Oval 5"/>
          <p:cNvSpPr/>
          <p:nvPr/>
        </p:nvSpPr>
        <p:spPr>
          <a:xfrm>
            <a:off x="923544" y="1911095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737360"/>
            <a:ext cx="16002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l"/>
            <a:r>
              <a:rPr lang="ko-KR" sz="240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학부모 통화 부담 감소, 다른 문의 대행·플랫폼 선정에 재사용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2834640"/>
            <a:ext cx="12700" cy="49377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7680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680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320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학부모 문의 부담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212080"/>
            <a:ext cx="768096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업무 중 통화 없이 질문 선택만으로 문의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질문별 답 저장, '아니오'·'미확인' 구분으로 학원 비교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학원은 반복 문의를 정해진 질문으로 응대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722376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대상  맞벌이 학부모 · 학원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834640"/>
            <a:ext cx="7680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활용 방안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291840"/>
            <a:ext cx="7680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3200" b="1">
                <a:solidFill>
                  <a:srgbClr val="2B2B2B"/>
                </a:solidFill>
                <a:latin typeface="HY헤드라인M"/>
                <a:ea typeface="HY헤드라인M"/>
                <a:cs typeface="HY헤드라인M"/>
              </a:rPr>
              <a:t>다른 문의 대행으로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480060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1">
                <a:solidFill>
                  <a:srgbClr val="999999"/>
                </a:solidFill>
                <a:latin typeface="맑은 고딕"/>
                <a:ea typeface="맑은 고딕"/>
                <a:cs typeface="맑은 고딕"/>
              </a:rPr>
              <a:t>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5212080"/>
            <a:ext cx="768096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병원·돌봄·체육시설 등 전화 문의·예약 확인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실통화 지연·끊김 측정 방법을 음성 플랫폼 선정에 재사용</a:t>
            </a:r>
          </a:p>
          <a:p>
            <a:pPr algn="l">
              <a:spcAft>
                <a:spcPts val="800"/>
              </a:spcAft>
            </a:pPr>
            <a:r>
              <a:rPr lang="ko-KR" sz="216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누적 결과로 학원 정보 비교 서비스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722376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182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확장 시 각 기관 측 동의 방법 필요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2514600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16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2895" y="3063240"/>
            <a:ext cx="12802235" cy="21037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0" tIns="27305" rIns="0" bIns="27305" numCol="1" anchor="b">
            <a:noAutofit/>
          </a:bodyPr>
          <a:lstStyle/>
          <a:p>
            <a:pPr marL="0" indent="0" algn="l">
              <a:lnSpc>
                <a:spcPct val="95000"/>
              </a:lnSpc>
              <a:buFontTx/>
              <a:buNone/>
            </a:pPr>
            <a:r>
              <a:rPr lang="ko-KR" sz="6000" b="1" spc="-190">
                <a:solidFill>
                  <a:srgbClr val="595959"/>
                </a:solidFill>
                <a:latin typeface="HY헤드라인M" charset="0"/>
                <a:ea typeface="HY헤드라인M" charset="0"/>
                <a:cs typeface="HY헤드라인M" charset="0"/>
              </a:rPr>
              <a:t>감사합니다</a:t>
            </a:r>
            <a:endParaRPr lang="ko-KR" altLang="en-US" sz="6000" b="1">
              <a:solidFill>
                <a:srgbClr val="595959"/>
              </a:solidFill>
              <a:latin typeface="HY헤드라인M" charset="0"/>
              <a:ea typeface="HY헤드라인M" charset="0"/>
              <a:cs typeface="HY헤드라인M" charset="0"/>
            </a:endParaRPr>
          </a:p>
          <a:p>
            <a:pPr marL="0" indent="0" algn="l">
              <a:lnSpc>
                <a:spcPct val="95000"/>
              </a:lnSpc>
              <a:buFontTx/>
              <a:buNone/>
            </a:pPr>
            <a:endParaRPr lang="ko-KR" altLang="en-US" sz="6000" b="1">
              <a:solidFill>
                <a:srgbClr val="595959"/>
              </a:solidFill>
              <a:latin typeface="HY헤드라인M" charset="0"/>
              <a:ea typeface="HY헤드라인M" charset="0"/>
              <a:cs typeface="HY헤드라인M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00200" y="6400800"/>
            <a:ext cx="12801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lang="ko-KR" sz="2080" b="0">
                <a:solidFill>
                  <a:srgbClr val="726B6B"/>
                </a:solidFill>
                <a:latin typeface="맑은 고딕"/>
                <a:ea typeface="맑은 고딕"/>
                <a:cs typeface="맑은 고딕"/>
              </a:rPr>
              <a:t>산학협력 8조 · 학원 문의 대행 보이스 에이전트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Pages>15</Pages>
  <Words>1767</Words>
  <Characters>0</Characters>
  <Application>Microsoft Office PowerPoint</Application>
  <DocSecurity>0</DocSecurity>
  <PresentationFormat>사용자 지정</PresentationFormat>
  <Lines>0</Lines>
  <Paragraphs>333</Paragraphs>
  <Slides>19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Arial</vt:lpstr>
      <vt:lpstr>HY헤드라인M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유준 강</cp:lastModifiedBy>
  <cp:revision>5</cp:revision>
  <dcterms:modified xsi:type="dcterms:W3CDTF">2026-10-21T10:07:39Z</dcterms:modified>
  <cp:version>11.105.321.56545</cp:version>
</cp:coreProperties>
</file>